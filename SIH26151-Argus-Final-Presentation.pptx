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0728655" cy="5577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SMART INDIA HACKATHON 2026 | SOFTWARE EDITION | PS ID: SIH26151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Argus Threat Actor Attribution Platform</a:t>
            </a:r>
          </a:p>
          <a:p>
            <a:pPr>
              <a:spcBef>
                <a:spcPts val="400"/>
              </a:spcBef>
              <a:defRPr sz="1500">
                <a:solidFill>
                  <a:srgbClr val="F59E0B"/>
                </a:solidFill>
                <a:latin typeface="Segoe UI"/>
              </a:defRPr>
            </a:pPr>
            <a:r>
              <a:t>Dark Web Threat Actor De-anonymization and Real-World Attribution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651760"/>
            <a:ext cx="3154680" cy="2286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788920"/>
            <a:ext cx="2788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PROBLEM DOMAIN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Theme: Cyber Security / Defense &amp; Law Enforcement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Target: Darknet Initial Access Brokers &amp; Extortionists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Operational Reality: Fragmented handles &amp; anonymous crypto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Framework: Two-Stage Non-Autonomous Forensic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651760"/>
            <a:ext cx="3154680" cy="2286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788920"/>
            <a:ext cx="2788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TEAM PARTICULARS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Team: Argus Intelligence Cell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Team Leader: Tejasree Guntipalli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Team Size: 6 Members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Institute: [College / University Name]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Implementation: Working Web Prototype + Cytoscape Topology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651760"/>
            <a:ext cx="3154680" cy="2286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788920"/>
            <a:ext cx="2788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GOVERNING PRINCIPLES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Correlation ≠ Identification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Attribution Lead ≠ Confirmed Identity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Zero Autonomous Real-World Leap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Threshold Clearance (≥80%) Enforced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Sworn Investigator Sign-off Required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5166360"/>
            <a:ext cx="9997135" cy="777240"/>
          </a:xfrm>
          <a:prstGeom prst="roundRect">
            <a:avLst/>
          </a:prstGeom>
          <a:solidFill>
            <a:srgbClr val="0C142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2303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CORRELATION ≠ IDENTIFICATION   |   ATTRIBUTION LEAD ≠ CONFIRMED IDENTITY</a:t>
            </a:r>
          </a:p>
          <a:p>
            <a:pPr algn="ctr">
              <a:defRPr sz="1000">
                <a:solidFill>
                  <a:srgbClr val="F1F5F9"/>
                </a:solidFill>
                <a:latin typeface="Segoe UI"/>
              </a:defRPr>
            </a:pPr>
            <a:r>
              <a:t>AI FINDS PATTERNS. GRAPH CONNECTS EVIDENCE. INVESTIGATORS VALIDATE ATTRIBUTION.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SMART INDIA HACKATHON 2026 | PROBLEM STATEMENT ID: SIH26151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Operational Problem &amp; Two-Stage Attribution Paradigm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291840" cy="4937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926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THE OPERATIONAL PROBLEM</a:t>
            </a:r>
          </a:p>
          <a:p>
            <a:pPr>
              <a:spcBef>
                <a:spcPts val="8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IDENTITY FRAGMENTATION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Threat actors operate under disparate personas across forums (Dread, XSS, BreachForums, Telegram).</a:t>
            </a:r>
          </a:p>
          <a:p>
            <a:pPr>
              <a:spcBef>
                <a:spcPts val="8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MULTI-SIGNAL DISCONNECT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Connecting handles requires combining PGP keyrings, stylometric syntax, Bitcoin UTXO co-spends, and infrastructure IPs.</a:t>
            </a:r>
          </a:p>
          <a:p>
            <a:pPr>
              <a:spcBef>
                <a:spcPts val="8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THE FALSE-ATTRIBUTION TRAP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Prematurely jumping from darknet usernames to real-world individuals risks devastating false arrests and judicial failure.</a:t>
            </a:r>
          </a:p>
          <a:p>
            <a:pPr>
              <a:spcBef>
                <a:spcPts val="8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THE NEED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An explainable system where correlation never automatically triggers real-world attribution.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325880"/>
            <a:ext cx="3749039" cy="4937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63040"/>
            <a:ext cx="3383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TWO-STAGE SOLUTION PARADIGM</a:t>
            </a:r>
          </a:p>
          <a:p>
            <a:pPr>
              <a:spcBef>
                <a:spcPts val="500"/>
              </a:spcBef>
              <a:defRPr sz="900" b="1">
                <a:solidFill>
                  <a:srgbClr val="06B6D4"/>
                </a:solidFill>
                <a:latin typeface="Segoe UI"/>
              </a:defRPr>
            </a:pPr>
            <a:r>
              <a:t>STAGE 1: DIGITAL ACTOR CORRELATION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Ingests darknet handles &amp; extracts 5 forensic signals (PGP, Stylometry, Crypto, Infrastructure, Temporal).</a:t>
            </a:r>
          </a:p>
          <a:p>
            <a:pPr>
              <a:spcBef>
                <a:spcPts val="500"/>
              </a:spcBef>
              <a:defRPr sz="900" b="1">
                <a:solidFill>
                  <a:srgbClr val="F1F5F9"/>
                </a:solidFill>
                <a:latin typeface="Segoe UI"/>
              </a:defRPr>
            </a:pPr>
            <a:r>
              <a:t>↓ EVIDENCE STRENGTH CALCULATION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Computes aggregate confidence score (0-100%) with 11 supporting, 1 conflicting, and 2 unknown signals.</a:t>
            </a:r>
          </a:p>
          <a:p>
            <a:pPr>
              <a:spcBef>
                <a:spcPts val="500"/>
              </a:spcBef>
              <a:defRPr sz="900" b="1">
                <a:solidFill>
                  <a:srgbClr val="F59E0B"/>
                </a:solidFill>
                <a:latin typeface="Segoe UI"/>
              </a:defRPr>
            </a:pPr>
            <a:r>
              <a:t>↓ INVESTIGATOR DECISION GATE (≥80%)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MANDATORY BARRIER: System halts. Stage 2 remains locked until authorized investigator reviews evidence.</a:t>
            </a:r>
          </a:p>
          <a:p>
            <a:pPr>
              <a:spcBef>
                <a:spcPts val="500"/>
              </a:spcBef>
              <a:defRPr sz="900" b="1">
                <a:solidFill>
                  <a:srgbClr val="F59E0B"/>
                </a:solidFill>
                <a:latin typeface="Segoe UI"/>
              </a:defRPr>
            </a:pPr>
            <a:r>
              <a:t>↓ EXPLICIT STAGE 2 AUTHORIZATION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Investigator logs warrant reason and explicitly clicks 'Initiate Real-World Attribution'.</a:t>
            </a:r>
          </a:p>
          <a:p>
            <a:pPr>
              <a:spcBef>
                <a:spcPts val="500"/>
              </a:spcBef>
              <a:defRPr sz="900" b="1">
                <a:solidFill>
                  <a:srgbClr val="10B981"/>
                </a:solidFill>
                <a:latin typeface="Segoe UI"/>
              </a:defRPr>
            </a:pPr>
            <a:r>
              <a:t>STAGE 2: REAL-WORLD ATTRIBUTION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Entity resolution engine maps digital indicators to candidate entities across 6 dimensions.</a:t>
            </a:r>
          </a:p>
          <a:p>
            <a:pPr>
              <a:spcBef>
                <a:spcPts val="500"/>
              </a:spcBef>
              <a:defRPr sz="900" b="1">
                <a:solidFill>
                  <a:srgbClr val="10B981"/>
                </a:solidFill>
                <a:latin typeface="Segoe UI"/>
              </a:defRPr>
            </a:pPr>
            <a:r>
              <a:t>↓ HUMAN VALIDATION &amp; DOSSIER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Produces Qualified Attribution Leads; investigator validates, rejects, or requests subpoenas.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325880"/>
            <a:ext cx="3291840" cy="4937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463040"/>
            <a:ext cx="2926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KEY SYSTEM INNOVATIONS</a:t>
            </a:r>
          </a:p>
          <a:p>
            <a:pPr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1. Multi-Signal Actor Correlation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Pairs 5 independent signal dimensions into a single mathematically defensible score.</a:t>
            </a:r>
          </a:p>
          <a:p>
            <a:pPr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2. Explainable Evidence Chains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Explains exactly why handles link (deterministic PGP match, stylometric cosine 0.91).</a:t>
            </a:r>
          </a:p>
          <a:p>
            <a:pPr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3. Cytoscape Topology Graph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Interactive graph rendering digital actor nodes and physical candidate entities.</a:t>
            </a:r>
          </a:p>
          <a:p>
            <a:pPr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4. Comparative Candidate Hypotheses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Evaluates Primary Lead vs Bulletproof Host vs VPN Relay side-by-side.</a:t>
            </a:r>
          </a:p>
          <a:p>
            <a:pPr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5. Investigation Path Tracing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Highlights the uninterrupted evidence chain from candidate back to forum handle.</a:t>
            </a:r>
          </a:p>
          <a:p>
            <a:pPr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6. Human-in-the-Loop Attribution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Sworn sign-off guarantees full compliance with judicial evidentiary standards.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SMART INDIA HACKATHON 2026 | PROBLEM STATEMENT ID: SIH26151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Technical Architecture: 10-Stage Visual Pipeline &amp; Signal Weights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MODULAR END-TO-END WORKFLOW DESIGNED FOR COMPLETE INVESTIGATIVE AUDITABILITY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029968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84708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1. INGESTION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Forum posts, chat feeds, PGP keyservers, and crypto ledgers.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463040"/>
            <a:ext cx="2029968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232" y="1554480"/>
            <a:ext cx="184708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2. PREPROCESSING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Tokenization, text normalization, and indicator extraction.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463040"/>
            <a:ext cx="2029968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75503" y="1554480"/>
            <a:ext cx="184708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3. CORRELATION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Pairwise multi-signal similarity matrix scoring.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463040"/>
            <a:ext cx="2029968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51775" y="1554480"/>
            <a:ext cx="184708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4. GRAPH ENGINE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Cytoscape topology graph mapping relationships.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463040"/>
            <a:ext cx="2029968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8048" y="1554480"/>
            <a:ext cx="184708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5. ACTOR CLUSTERING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Community detection synthesizing Actor Cluster 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46120"/>
            <a:ext cx="2029968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37560"/>
            <a:ext cx="184708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6. EVIDENCE STRENGTH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Calculates supporting, conflicting, and unknown gap vectors.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07791" y="3246120"/>
            <a:ext cx="2029968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9232" y="3337560"/>
            <a:ext cx="184708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7. DECISION GATE (≥80%)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Mandatory investigator checkpoint halting automatic execution.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4064" y="3246120"/>
            <a:ext cx="2029968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75503" y="3337560"/>
            <a:ext cx="184708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8. ENTITY RESOLUTION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Stage 2 workspace evaluating 6 real-world dimensions.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0336" y="3246120"/>
            <a:ext cx="2029968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5" y="3337560"/>
            <a:ext cx="184708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9. CANDIDATE HYPOTHESES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Side-by-side scoring of Candidates A, B, and 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36608" y="3246120"/>
            <a:ext cx="2029968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28048" y="3337560"/>
            <a:ext cx="184708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10. HUMAN VALIDATION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Analyst decisioning &amp; court-ready dossier generation.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029200"/>
            <a:ext cx="10728655" cy="132588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120640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STAGE 1 MULTI-SIGNAL CORRELATION WEIGHTS (IMPLEMENTED IN PROTOTYPE ENGINE)</a:t>
            </a:r>
          </a:p>
          <a:p>
            <a:pPr>
              <a:spcBef>
                <a:spcPts val="400"/>
              </a:spcBef>
            </a:pPr>
            <a:r>
              <a:rPr b="1" sz="900">
                <a:solidFill>
                  <a:srgbClr val="06B6D4"/>
                </a:solidFill>
              </a:rPr>
              <a:t>[Username / Alias: 20%]  </a:t>
            </a:r>
            <a:r>
              <a:rPr b="1" sz="900">
                <a:solidFill>
                  <a:srgbClr val="06B6D4"/>
                </a:solidFill>
              </a:rPr>
              <a:t>[Stylometry (NLP): 25%]  </a:t>
            </a:r>
            <a:r>
              <a:rPr b="1" sz="900">
                <a:solidFill>
                  <a:srgbClr val="06B6D4"/>
                </a:solidFill>
              </a:rPr>
              <a:t>[Behavioural Patterns: 20%]  </a:t>
            </a:r>
            <a:r>
              <a:rPr b="1" sz="900">
                <a:solidFill>
                  <a:srgbClr val="06B6D4"/>
                </a:solidFill>
              </a:rPr>
              <a:t>[Temporal Activity: 15%]  </a:t>
            </a:r>
            <a:r>
              <a:rPr b="1" sz="900">
                <a:solidFill>
                  <a:srgbClr val="06B6D4"/>
                </a:solidFill>
              </a:rPr>
              <a:t>[Technical / Digital: 20%]  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Mathematical Model:  Aggregate Score = ∑ (Dimension Score_i × Weight_i)  |  Configurable in Investigation Settings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SMART INDIA HACKATHON 2026 | PROBLEM STATEMENT ID: SIH26151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Evidence Model, Empirical Case Study &amp; Investigation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83280" cy="4937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EVIDENTIARY FORMULA</a:t>
            </a:r>
          </a:p>
          <a:p>
            <a:pPr>
              <a:spcBef>
                <a:spcPts val="4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SUPPORTING EVIDENCE</a:t>
            </a:r>
            <a:br/>
            <a:r>
              <a:t>+ CONFLICTING EVIDENCE</a:t>
            </a:r>
            <a:br/>
            <a:r>
              <a:t>+ UNKNOWN / MISSING EVIDENCE</a:t>
            </a:r>
            <a:br/>
            <a:r>
              <a:t>= EVIDENCE STRENGTH</a:t>
            </a:r>
          </a:p>
          <a:p>
            <a:pPr>
              <a:spcBef>
                <a:spcPts val="800"/>
              </a:spcBef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STAGE 1 PROTOTYPE RESULTS (CASE INV-2026-0151)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Actor Cluster A: </a:t>
            </a:r>
            <a:r>
              <a:rPr b="1">
                <a:solidFill>
                  <a:srgbClr val="10B981"/>
                </a:solidFill>
              </a:rPr>
              <a:t>92% Evidence Strength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Classification: </a:t>
            </a:r>
            <a:r>
              <a:rPr b="1">
                <a:solidFill>
                  <a:srgbClr val="10B981"/>
                </a:solidFill>
              </a:rPr>
              <a:t>VERY STRONG EVIDENCE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Supporting Reasons: </a:t>
            </a:r>
            <a:r>
              <a:rPr b="1">
                <a:solidFill>
                  <a:srgbClr val="F1F5F9"/>
                </a:solidFill>
              </a:rPr>
              <a:t>11 Verified Items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Conflicting Reasons: </a:t>
            </a:r>
            <a:r>
              <a:rPr b="1">
                <a:solidFill>
                  <a:srgbClr val="F59E0B"/>
                </a:solidFill>
              </a:rPr>
              <a:t>1 Logged (Access broker vs mirror publisher)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Unknown / Gap Items: </a:t>
            </a:r>
            <a:r>
              <a:rPr b="1">
                <a:solidFill>
                  <a:srgbClr val="94A3B8"/>
                </a:solidFill>
              </a:rPr>
              <a:t>2 Pending (Tor exit IP WHOIS, Mixer hop)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Decision Gate Status: </a:t>
            </a:r>
            <a:r>
              <a:rPr b="1">
                <a:solidFill>
                  <a:srgbClr val="06B6D4"/>
                </a:solidFill>
              </a:rPr>
              <a:t>CLEARED FOR REVIEW (92% ≥ 80%)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383280" cy="4937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46304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STAGE 2 CANDIDATE HYPOTHESES</a:t>
            </a:r>
          </a:p>
          <a:p>
            <a:pPr>
              <a:spcBef>
                <a:spcPts val="300"/>
              </a:spcBef>
              <a:defRPr sz="800" i="1">
                <a:solidFill>
                  <a:srgbClr val="94A3B8"/>
                </a:solidFill>
                <a:latin typeface="Segoe UI"/>
              </a:defRPr>
            </a:pPr>
            <a:r>
              <a:t>Values represent evidence-strength scores / attribution leads, NOT calibrated probabilities of legal guilt.</a:t>
            </a:r>
          </a:p>
          <a:p>
            <a:pPr>
              <a:spcBef>
                <a:spcPts val="600"/>
              </a:spcBef>
              <a:defRPr sz="950" b="1">
                <a:solidFill>
                  <a:srgbClr val="06B6D4"/>
                </a:solidFill>
              </a:defRPr>
            </a:pPr>
            <a:r>
              <a:t>Candidate Entity A — 82% Strength</a:t>
            </a:r>
          </a:p>
          <a:p>
            <a:pPr>
              <a:defRPr sz="800">
                <a:solidFill>
                  <a:srgbClr val="F1F5F9"/>
                </a:solidFill>
              </a:defRPr>
            </a:pPr>
            <a:r>
              <a:t>Status: ATTRIBUTION LEAD</a:t>
            </a:r>
            <a:br/>
            <a:r>
              <a:t>Meridian Analytics S.R.O. (Subject A. K.)</a:t>
            </a:r>
            <a:br/>
            <a:r>
              <a:t>Linked via domain registrant, Git commit metadata, and proxy reverse-lookup.</a:t>
            </a:r>
          </a:p>
          <a:p>
            <a:pPr>
              <a:spcBef>
                <a:spcPts val="600"/>
              </a:spcBef>
              <a:defRPr sz="950" b="1">
                <a:solidFill>
                  <a:srgbClr val="F59E0B"/>
                </a:solidFill>
              </a:defRPr>
            </a:pPr>
            <a:r>
              <a:t>Candidate Entity B — 67% Strength</a:t>
            </a:r>
          </a:p>
          <a:p>
            <a:pPr>
              <a:defRPr sz="800">
                <a:solidFill>
                  <a:srgbClr val="F1F5F9"/>
                </a:solidFill>
              </a:defRPr>
            </a:pPr>
            <a:r>
              <a:t>Status: SECONDARY HYPOTHESIS</a:t>
            </a:r>
            <a:br/>
            <a:r>
              <a:t>Vortex Cloud Holdings Inc.</a:t>
            </a:r>
            <a:br/>
            <a:r>
              <a:t>Bulletproof hosting leaseholder; conflicting evidence logged.</a:t>
            </a:r>
          </a:p>
          <a:p>
            <a:pPr>
              <a:spcBef>
                <a:spcPts val="600"/>
              </a:spcBef>
              <a:defRPr sz="950" b="1">
                <a:solidFill>
                  <a:srgbClr val="EF4444"/>
                </a:solidFill>
              </a:defRPr>
            </a:pPr>
            <a:r>
              <a:t>Candidate Entity C — 41% Strength</a:t>
            </a:r>
          </a:p>
          <a:p>
            <a:pPr>
              <a:defRPr sz="800">
                <a:solidFill>
                  <a:srgbClr val="F1F5F9"/>
                </a:solidFill>
              </a:defRPr>
            </a:pPr>
            <a:r>
              <a:t>Status: INSUFFICIENT EVIDENCE</a:t>
            </a:r>
            <a:br/>
            <a:r>
              <a:t>Solitary VPN Relay Node</a:t>
            </a:r>
            <a:br/>
            <a:r>
              <a:t>Ephemeral exit node traffic; lacks persistent technical link.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325880"/>
            <a:ext cx="3504895" cy="4937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46304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FORENSIC IMPACT &amp; VALUE</a:t>
            </a:r>
          </a:p>
          <a:p>
            <a:pPr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STRUCTURED INVESTIGATION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Replaces scattered spreadsheets and ad-hoc queries with an end-to-end reproducible case builder.</a:t>
            </a:r>
          </a:p>
          <a:p>
            <a:pPr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EXPLAINABLE RELATIONSHIPS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Every link presents verifiable evidence: PGP 0x7E4A8F2C91B4, SegWit wallet bc1qxy2kg..., stylometry Cosine 0.91.</a:t>
            </a:r>
          </a:p>
          <a:p>
            <a:pPr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ELIMINATES PREMATURE ATTRIBUTION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Strict decision gate prevents biased analyst confirmation and unverified real-world accusations.</a:t>
            </a:r>
          </a:p>
          <a:p>
            <a:pPr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TRACEABLE EVIDENCE CHAIN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Investigation Path Mode highlights the direct path from candidate entity to forum handle.</a:t>
            </a:r>
          </a:p>
          <a:p>
            <a:pPr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HUMAN VALIDATION &amp; AUDIT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Every investigator acceptance, rejection, or subpoena request is permanently logged.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SMART INDIA HACKATHON 2026 | PROBLEM STATEMENT ID: SIH26151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Implemented Technology Stack, Security Controls &amp; Privacy Boundaries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4632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FRONTEND &amp; GRAPH ENGINE (IMPLEMENTED)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React 19 &amp; TypeScript: Component-driven, strictly typed investigation workstation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Cytoscape.js: Force-directed topology graph with dynamic layout switching (CoSE, concentric)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Investigation Path Tracer: Highlighting sub-graphs from candidate entity to digital handles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• Tailwind CSS: Restrained dark-mode interface optimized for high-contrast courtroom projection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325880"/>
            <a:ext cx="5212080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0975" y="1417320"/>
            <a:ext cx="484632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ANALYTICS &amp; INVESTIGATION ENGINES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Stylometric NLP: Character/word n-grams, vocabulary richness (TTR), cosine similarity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Cryptographic Chainer: Deterministic PGP key ID and SHA-1 fingerprint matching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Blockchain UTXO Correlation: Native SegWit co-spend clustering &amp; Wasabi CoinJoin tracking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Entity Resolution Engine: Multi-dimensional evidence scoring across 6 intelligence 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12080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84632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SECURITY CONTROLS &amp; BOUNDARIES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Passive Intelligence Workflow: Operates strictly on ingested data; zero active exploitation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No Unauthorized Access: No intrusive port attacks or credential stuffing techniques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Synthetic Case Validation: Demonstrated safely using realistic forensic datasets (INV-2026-0151)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Audit Logging: Every correlation run, threshold change, and candidate decision is logged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3886200"/>
            <a:ext cx="5212080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0975" y="3977639"/>
            <a:ext cx="484632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PRIVACY &amp; LEGAL ADMISSIBILITY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Evidence Provenance: Unbroken chain of custody tracking origin, timestamps, and confidence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Investigator Accountability: Only certified analysts (e.g. INV-017) can sign attribution leads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Restricted Judicial Scope: Matches entities solely within authorized warrant boundaries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• No PII Harvesting: Avoids mass surveillance scraping; targets active cyber extortion entities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SMART INDIA HACKATHON 2026 | PROBLEM STATEMENT ID: SIH26151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Implementation Status, Future Roadmap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114800" cy="4023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7490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CURRENT PROTOTYPE (IMPLEMENTED &amp; WORKING)</a:t>
            </a:r>
          </a:p>
          <a:p>
            <a:pPr>
              <a:spcBef>
                <a:spcPts val="300"/>
              </a:spcBef>
              <a:defRPr sz="850">
                <a:solidFill>
                  <a:srgbClr val="F1F5F9"/>
                </a:solidFill>
                <a:latin typeface="Segoe UI"/>
              </a:defRPr>
            </a:pPr>
            <a:r>
              <a:t>✓  Case Builder Workstation with inline digital handle ingestion</a:t>
            </a:r>
          </a:p>
          <a:p>
            <a:pPr>
              <a:spcBef>
                <a:spcPts val="300"/>
              </a:spcBef>
              <a:defRPr sz="850">
                <a:solidFill>
                  <a:srgbClr val="F1F5F9"/>
                </a:solidFill>
                <a:latin typeface="Segoe UI"/>
              </a:defRPr>
            </a:pPr>
            <a:r>
              <a:t>✓  Multi-Signal Correlation Engine (Stylometry, PGP, Crypto, Diurnal)</a:t>
            </a:r>
          </a:p>
          <a:p>
            <a:pPr>
              <a:spcBef>
                <a:spcPts val="300"/>
              </a:spcBef>
              <a:defRPr sz="850">
                <a:solidFill>
                  <a:srgbClr val="F1F5F9"/>
                </a:solidFill>
                <a:latin typeface="Segoe UI"/>
              </a:defRPr>
            </a:pPr>
            <a:r>
              <a:t>✓  Actor Clustering &amp; 92% Evidence Strength Calculation</a:t>
            </a:r>
          </a:p>
          <a:p>
            <a:pPr>
              <a:spcBef>
                <a:spcPts val="300"/>
              </a:spcBef>
              <a:defRPr sz="850">
                <a:solidFill>
                  <a:srgbClr val="F1F5F9"/>
                </a:solidFill>
                <a:latin typeface="Segoe UI"/>
              </a:defRPr>
            </a:pPr>
            <a:r>
              <a:t>✓  Cytoscape Evidence Topology Graph with Node Inspector</a:t>
            </a:r>
          </a:p>
          <a:p>
            <a:pPr>
              <a:spcBef>
                <a:spcPts val="300"/>
              </a:spcBef>
              <a:defRPr sz="850">
                <a:solidFill>
                  <a:srgbClr val="F1F5F9"/>
                </a:solidFill>
                <a:latin typeface="Segoe UI"/>
              </a:defRPr>
            </a:pPr>
            <a:r>
              <a:t>✓  Investigation Path Tracing (Candidate A → Indicator → Actor)</a:t>
            </a:r>
          </a:p>
          <a:p>
            <a:pPr>
              <a:spcBef>
                <a:spcPts val="300"/>
              </a:spcBef>
              <a:defRPr sz="850">
                <a:solidFill>
                  <a:srgbClr val="F1F5F9"/>
                </a:solidFill>
                <a:latin typeface="Segoe UI"/>
              </a:defRPr>
            </a:pPr>
            <a:r>
              <a:t>✓  Stage 2 Attribution Workspace with Critical Decision Gate</a:t>
            </a:r>
          </a:p>
          <a:p>
            <a:pPr>
              <a:spcBef>
                <a:spcPts val="300"/>
              </a:spcBef>
              <a:defRPr sz="850">
                <a:solidFill>
                  <a:srgbClr val="F1F5F9"/>
                </a:solidFill>
                <a:latin typeface="Segoe UI"/>
              </a:defRPr>
            </a:pPr>
            <a:r>
              <a:t>✓  Comparative Candidate Hypotheses (Candidate A vs B vs C)</a:t>
            </a:r>
          </a:p>
          <a:p>
            <a:pPr>
              <a:spcBef>
                <a:spcPts val="300"/>
              </a:spcBef>
              <a:defRPr sz="850">
                <a:solidFill>
                  <a:srgbClr val="F1F5F9"/>
                </a:solidFill>
                <a:latin typeface="Segoe UI"/>
              </a:defRPr>
            </a:pPr>
            <a:r>
              <a:t>✓  Human Validation Workflow (Accept / Reject / Subpoena)</a:t>
            </a:r>
          </a:p>
          <a:p>
            <a:pPr>
              <a:spcBef>
                <a:spcPts val="300"/>
              </a:spcBef>
              <a:defRPr sz="850">
                <a:solidFill>
                  <a:srgbClr val="F1F5F9"/>
                </a:solidFill>
                <a:latin typeface="Segoe UI"/>
              </a:defRPr>
            </a:pPr>
            <a:r>
              <a:t>✓  Comprehensive Case Timeline &amp; Admissible Dossier Reports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325880"/>
            <a:ext cx="3108960" cy="4023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463040"/>
            <a:ext cx="2743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FUTURE WORK (PHASED ROADMAP)</a:t>
            </a:r>
          </a:p>
          <a:p>
            <a:pPr>
              <a:spcBef>
                <a:spcPts val="600"/>
              </a:spcBef>
              <a:defRPr sz="900" b="1">
                <a:solidFill>
                  <a:srgbClr val="F59E0B"/>
                </a:solidFill>
                <a:latin typeface="Segoe UI"/>
              </a:defRPr>
            </a:pPr>
            <a:r>
              <a:t>PHASE 1: EXPANDED INTELLIGENCE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Asynchronous daemon collectors for live darknet forum feeds, paste sites, and encrypted chat channels.</a:t>
            </a:r>
          </a:p>
          <a:p>
            <a:pPr>
              <a:spcBef>
                <a:spcPts val="600"/>
              </a:spcBef>
              <a:defRPr sz="900" b="1">
                <a:solidFill>
                  <a:srgbClr val="F59E0B"/>
                </a:solidFill>
                <a:latin typeface="Segoe UI"/>
              </a:defRPr>
            </a:pPr>
            <a:r>
              <a:t>PHASE 2: ADVANCED BLOCKCHAIN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Automated cross-chain swap tracing, Wasabi CoinJoin peel analysis, and Monero decoying heuristics.</a:t>
            </a:r>
          </a:p>
          <a:p>
            <a:pPr>
              <a:spcBef>
                <a:spcPts val="600"/>
              </a:spcBef>
              <a:defRPr sz="900" b="1">
                <a:solidFill>
                  <a:srgbClr val="F59E0B"/>
                </a:solidFill>
                <a:latin typeface="Segoe UI"/>
              </a:defRPr>
            </a:pPr>
            <a:r>
              <a:t>PHASE 3: AGENCY FEDERATION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Multi-agency threat intelligence federation with cryptographic zero-knowledge proof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325880"/>
            <a:ext cx="3139135" cy="402336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463040"/>
            <a:ext cx="2743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SUMMARY &amp; VERDICT</a:t>
            </a:r>
          </a:p>
          <a:p>
            <a:pPr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National Readiness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Directly addresses SIH26151 with a working, production-grade cybersecurity solution.</a:t>
            </a:r>
          </a:p>
          <a:p>
            <a:pPr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Zero Legal Ambiguity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Separates mathematical correlation from sworn real-world attribution.</a:t>
            </a:r>
          </a:p>
          <a:p>
            <a:pPr>
              <a:spcBef>
                <a:spcPts val="6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Explainable &amp; Auditable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Eliminates black-box ML risks; every score is forensic evidence backed.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0C142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AI FINDS PATTERNS. GRAPH CONNECTS EVIDENCE. INVESTIGATORS VALIDATE ATTRIBUTION.</a:t>
            </a:r>
          </a:p>
          <a:p>
            <a:pPr algn="ctr">
              <a:defRPr sz="1000">
                <a:solidFill>
                  <a:srgbClr val="F1F5F9"/>
                </a:solidFill>
                <a:latin typeface="Segoe UI"/>
              </a:defRPr>
            </a:pPr>
            <a:r>
              <a:t>Correlation ≠ Identification   |   Attribution Lead ≠ Confirmed Identity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